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82" r:id="rId2"/>
    <p:sldId id="257" r:id="rId3"/>
    <p:sldId id="258" r:id="rId4"/>
    <p:sldId id="292" r:id="rId5"/>
    <p:sldId id="259" r:id="rId6"/>
    <p:sldId id="266" r:id="rId7"/>
    <p:sldId id="260" r:id="rId8"/>
    <p:sldId id="261" r:id="rId9"/>
    <p:sldId id="262" r:id="rId10"/>
    <p:sldId id="264" r:id="rId11"/>
    <p:sldId id="265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80" r:id="rId23"/>
    <p:sldId id="279" r:id="rId24"/>
    <p:sldId id="283" r:id="rId25"/>
    <p:sldId id="285" r:id="rId26"/>
    <p:sldId id="287" r:id="rId27"/>
    <p:sldId id="289" r:id="rId28"/>
    <p:sldId id="281" r:id="rId29"/>
    <p:sldId id="290" r:id="rId30"/>
    <p:sldId id="29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AD30F-A629-471D-89C4-8F1C8449026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B0471-7E1C-400A-A2FE-3A6541CB85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35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B0471-7E1C-400A-A2FE-3A6541CB857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44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8E08-B055-6858-C102-AA0A47BD9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279D9-624B-85F3-4F14-773154273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3A570-4C38-6FFE-D8AE-52DBCFEBE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54EE6-6C7E-7789-2504-BA477556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6972C-A6B5-3DDA-3C7E-AAA7590A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39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A89B-6BAA-7825-17D8-4505C2E4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AFD3C-4E85-07DF-4FD8-4DF528400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AE9BB-EA38-3019-FCCE-6BCB8324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26E9-55C0-2AB6-6B5C-07138E43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2C79-CBAE-BC3F-9A2E-252CDDCD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4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D323-B442-53D7-F37D-FA5E5CE2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3397C-958B-F572-15EE-CFE811619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3EA5E-02C5-08DE-7CBB-4FA896E3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ADBBA-09B5-C62A-6590-25DE0056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20929-2E5A-C223-220C-EC6492A6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01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AAA0-B50C-A714-7F0A-0D64ADD1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BA0B8-D4DF-562B-E594-AFD4A5EB3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3637D-9C6C-0343-96A0-EE818ABC3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4140A-FF4B-7479-FE06-12434B25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C77A9-1AF2-9429-EA8D-A0156678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84D4D-0696-8903-BED1-EDC60289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19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9F05-9C9D-CE28-620F-341BF3AE5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04A770-FA9C-5404-36C8-2933ECD52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52EE2-3619-849A-9911-D1D8C6945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52354-6464-0100-D38E-E4128FFDD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5BF40-B342-9671-E2FA-95B88BC9D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A56998-B4AB-3D3D-E252-9D557C535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6D168-8B1E-C712-839B-6F7330EC5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5B46-CA3D-358C-95B6-FDF35E5E3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01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CED-13A1-919F-5673-2613916CA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6C998-32C6-8EBA-037F-1D70C699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1778A-B6BA-98EB-117F-5201570B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1AF2A-F00E-05CD-9EB9-F04C4FC5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664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5B818-89C9-ACEC-894C-B33B7BC53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A9FE9-E158-CAE5-33B0-53840F5F7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ECE65-0298-9CDF-E06C-5C2EF30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46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1FC8-FEAF-97FB-8F3B-378963A3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442A-48FB-E331-34F3-81AA1DC73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ED804-87B4-0AC4-4B3E-AE15FC91B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851BB-DFD1-AFA8-29C7-82CE215E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F7394-C232-97D3-6A4B-4CF7C8B8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E87D0-25C8-8504-80AB-6FEC9F98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54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8390-A436-8530-8553-E46DE7E5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9584C-2501-10F0-5D3A-8B5B5369D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FDF5A-A2B6-6D97-F935-3B17BB171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1AFF2-5060-ED69-83F5-3448F17E9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221BD-8870-BAB9-58C2-DC9949BDA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D0AFE-C052-F835-A4CA-9E724EEF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90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75B6-322E-4CF2-80C3-4959EB48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E8C1F-F18D-AD8D-7240-EEF9F77D7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54BA4-14E3-D993-B42C-D9AE27AE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3C11-6793-A88D-7180-1F862D5E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0EBC2-393F-8437-2152-0175EAA01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50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09D4F-3522-384D-C051-4D1EE6694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CF071-3D7A-3BFC-54F5-627D22DED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6B160-8B94-0C4C-8F0D-AE3518A6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18ABC-ECF4-BE54-2E20-8231B419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41195-4539-4ACA-B6FC-8E23687C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585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21775-604C-95A3-1C25-773F668F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B5C37-80AB-295B-2CFC-F8204D8E0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6010B-DA73-94A6-0D90-A5752A741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661E04-24AE-4A2C-8EA5-DDA653A713B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47B21-DEFD-175C-A814-2B44EE690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246AB-96F0-F2EE-AE89-ED8812CD0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02528-7975-4201-828B-A3B6810F2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87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d5file.com/calculator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9621" y="288173"/>
            <a:ext cx="9144000" cy="2387600"/>
          </a:xfrm>
        </p:spPr>
        <p:txBody>
          <a:bodyPr/>
          <a:lstStyle/>
          <a:p>
            <a:r>
              <a:rPr dirty="0"/>
              <a:t>Audio Forensics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National Forensic Sciences University, Dharwad Campus</a:t>
            </a:r>
          </a:p>
          <a:p>
            <a:r>
              <a:t>Training on Audio Forensics</a:t>
            </a:r>
          </a:p>
          <a:p>
            <a:r>
              <a:t>Date: 8th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CF34-D6D6-C261-2DE1-62499B89C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Sound Production and Wave representation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03207F-8036-0F73-50E9-291C9EFEA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642" y="1782930"/>
            <a:ext cx="8668715" cy="372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5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 shot of a sound wave&#10;&#10;AI-generated content may be incorrect.">
            <a:extLst>
              <a:ext uri="{FF2B5EF4-FFF2-40B4-BE49-F238E27FC236}">
                <a16:creationId xmlns:a16="http://schemas.microsoft.com/office/drawing/2014/main" id="{CB2D5E5E-BA6F-49E4-532F-C1AD34A3A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046" y="0"/>
            <a:ext cx="10905066" cy="48527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40E4D1-5D8F-00F1-6DA3-730F8A92BCB8}"/>
              </a:ext>
            </a:extLst>
          </p:cNvPr>
          <p:cNvSpPr txBox="1"/>
          <p:nvPr/>
        </p:nvSpPr>
        <p:spPr>
          <a:xfrm>
            <a:off x="786954" y="5110025"/>
            <a:ext cx="10297249" cy="1307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Visualizing Sound: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 Waveforms can be seen with tools like </a:t>
            </a:r>
            <a:r>
              <a:rPr lang="en-IN" sz="2400" b="1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Audacity,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 showing amplitude/pressure (y-axis) versus time (x-axis).</a:t>
            </a:r>
            <a:endParaRPr lang="en-IN" sz="2000" kern="100" dirty="0"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Multifactorial information of waveform:</a:t>
            </a:r>
            <a:r>
              <a:rPr lang="en-IN" sz="2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Frequency, Intensity, pitch, etc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6166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different types of sound waves&#10;&#10;AI-generated content may be incorrect.">
            <a:extLst>
              <a:ext uri="{FF2B5EF4-FFF2-40B4-BE49-F238E27FC236}">
                <a16:creationId xmlns:a16="http://schemas.microsoft.com/office/drawing/2014/main" id="{E476361A-6569-D05F-C1ED-3AD676B48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483" y="608617"/>
            <a:ext cx="10356746" cy="519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51C5-7E53-070C-9FBB-F77BBDB2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Parameters of Audio Signals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21D0F-ECBC-D46E-4EAF-60E66BEAA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40453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(Hz):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Number of oscillations per second (cycle/sec). Inverse of the time period. Defines 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—higher frequencies = higher pitches.</a:t>
            </a:r>
          </a:p>
          <a:p>
            <a:pPr lvl="1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hearing: 20 Hz to 20,000 Hz (20 kHz).</a:t>
            </a:r>
          </a:p>
          <a:p>
            <a:pPr lvl="1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speech: ~60–5,500 Hz. Female speech: ~150–10,000 Hz.</a:t>
            </a:r>
          </a:p>
          <a:p>
            <a:pPr lvl="1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Animals: Cats up to 75,000 Hz, dogs up to 45,000 Hz, bats up to 200,000 Hz.</a:t>
            </a:r>
          </a:p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maximum displacement of the wave from reference. Higher amplitude = louder sound. Amplitude measured from the middle (zero pressure) to peak pressure.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09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42CDE-620B-1E34-35E3-2428E2CD0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474" y="939441"/>
            <a:ext cx="10909640" cy="1065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sz="6600" b="1" dirty="0"/>
              <a:t>Key Parameters of Audio Signals</a:t>
            </a:r>
            <a:endParaRPr lang="en-US" sz="66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function&#10;&#10;AI-generated content may be incorrect.">
            <a:extLst>
              <a:ext uri="{FF2B5EF4-FFF2-40B4-BE49-F238E27FC236}">
                <a16:creationId xmlns:a16="http://schemas.microsoft.com/office/drawing/2014/main" id="{4D5C7C47-9A46-B69D-76C5-7AEF50046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08" y="2897740"/>
            <a:ext cx="3758184" cy="3044129"/>
          </a:xfrm>
          <a:prstGeom prst="rect">
            <a:avLst/>
          </a:prstGeom>
        </p:spPr>
      </p:pic>
      <p:pic>
        <p:nvPicPr>
          <p:cNvPr id="6" name="Picture 5" descr="A diagram of a phase&#10;&#10;AI-generated content may be incorrect.">
            <a:extLst>
              <a:ext uri="{FF2B5EF4-FFF2-40B4-BE49-F238E27FC236}">
                <a16:creationId xmlns:a16="http://schemas.microsoft.com/office/drawing/2014/main" id="{CBC7E87A-226E-E1D7-EA9C-6B6981A52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6908" y="2944717"/>
            <a:ext cx="3758184" cy="2950174"/>
          </a:xfrm>
          <a:prstGeom prst="rect">
            <a:avLst/>
          </a:prstGeom>
          <a:noFill/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C3DB5BA7-C406-4186-EDF1-0979037501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02930" y="2944717"/>
            <a:ext cx="3758184" cy="29501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648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9569-D5D1-3FDF-2286-5F435E4C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1BE3-BD8B-2CBD-1A40-62226E551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Parameters of Audio Signals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020E3C-2631-00F1-6495-D5CD358FB8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>
                <a:normAutofit lnSpcReduction="10000"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 The relative shift between two waves, measured in degrees or radians. Important in wave superposition—two waves of the same amplitude and opposite phase can cancel each other out (destructive interference).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(W/m²): 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transported by the wave per unit area. Human hearing threshold: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200" b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200" b="0" smtClean="0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W/m². Threshold of pain: 10 W/m².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IN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Loudness (Phons): </a:t>
                </a: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Human-perceived strength of a sound, a subjective correlate of intensity. Loudness perception depends on frequency, age, and person-to-person variability.</a:t>
                </a:r>
              </a:p>
              <a:p>
                <a:pPr algn="just">
                  <a:lnSpc>
                    <a:spcPct val="150000"/>
                  </a:lnSpc>
                </a:pPr>
                <a:endPara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020E3C-2631-00F1-6495-D5CD358FB8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45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72A5-B02E-6A45-1460-E6F0284E1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8A0F-E699-0C37-604F-7C280265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228AD-C630-D5AE-E7AB-2BC428BF5E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en-IN" b="1" dirty="0"/>
                  <a:t>Decibels (dB):</a:t>
                </a:r>
                <a:r>
                  <a:rPr lang="en-IN" dirty="0"/>
                  <a:t> Logarithmic measurement of intensity:</a:t>
                </a:r>
                <a:br>
                  <a:rPr lang="en-IN" dirty="0"/>
                </a:br>
                <a:br>
                  <a:rPr lang="en-IN" dirty="0"/>
                </a:br>
                <a:r>
                  <a:rPr lang="en-IN" dirty="0"/>
                  <a:t>L = 10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⁡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IN" dirty="0"/>
                </a:br>
                <a:r>
                  <a:rPr lang="en-IN" dirty="0"/>
                  <a:t>where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dirty="0"/>
                  <a:t> = measured intensity,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 = threshold intensity for hearing.</a:t>
                </a:r>
              </a:p>
              <a:p>
                <a:pPr lvl="0"/>
                <a:endParaRPr lang="en-IN" dirty="0"/>
              </a:p>
              <a:p>
                <a:pPr lvl="0"/>
                <a:r>
                  <a:rPr lang="en-IN" dirty="0"/>
                  <a:t>Threshold of hearing: 0 dB; normal conversation: ~60 dB; painful: 130 dB; jet engine: 140 </a:t>
                </a:r>
                <a:r>
                  <a:rPr lang="en-IN" dirty="0" err="1"/>
                  <a:t>dB.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228AD-C630-D5AE-E7AB-2BC428BF5E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106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81E0-AF2D-C08C-2D70-D0DF9563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99CB-F1F0-6022-0207-B9E567D85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Frequency vs pitch: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0EBCB-1E09-5514-75B1-50898D54B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/>
          </a:bodyPr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Psychological perception of frequency, varies logarithmically rather than linearly.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refers to the perception of the sound. Pitch is how we perceive with our ear.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refers to the production of the sound.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8D28D-0E1F-D3D8-7D6C-CE8ABA4E3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14" y="3286125"/>
            <a:ext cx="4701540" cy="3368040"/>
          </a:xfrm>
          <a:prstGeom prst="rect">
            <a:avLst/>
          </a:prstGeom>
        </p:spPr>
      </p:pic>
      <p:pic>
        <p:nvPicPr>
          <p:cNvPr id="5" name="Picture 4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E752B066-AB64-65DD-8A5F-1569996ED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69" y="3286125"/>
            <a:ext cx="3717758" cy="15814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2D6CDF-7C89-434E-1008-6571F7824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754" y="5167312"/>
            <a:ext cx="3940810" cy="1325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BCC735-13D6-D1E5-630B-3BC9EC0EFC8A}"/>
              </a:ext>
            </a:extLst>
          </p:cNvPr>
          <p:cNvSpPr txBox="1"/>
          <p:nvPr/>
        </p:nvSpPr>
        <p:spPr>
          <a:xfrm>
            <a:off x="9304421" y="3752183"/>
            <a:ext cx="2887579" cy="88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At pitch=69, F=440Hz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At pitch = 60, F= 261.6Hz</a:t>
            </a:r>
            <a:endParaRPr lang="en-IN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8140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4AB85-01D1-E71D-3018-937642DA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4959-2BBB-51BB-BE05-2D0D303C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and Digital Signals; Sampling and Quantization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A diagram of a period&#10;&#10;AI-generated content may be incorrect.">
            <a:extLst>
              <a:ext uri="{FF2B5EF4-FFF2-40B4-BE49-F238E27FC236}">
                <a16:creationId xmlns:a16="http://schemas.microsoft.com/office/drawing/2014/main" id="{0D61C6A0-94EC-F0FE-45B2-3D5528226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396" y="1690688"/>
            <a:ext cx="5806900" cy="3322608"/>
          </a:xfrm>
          <a:prstGeom prst="rect">
            <a:avLst/>
          </a:prstGeom>
        </p:spPr>
      </p:pic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571AFE41-7BA2-424F-0A04-A754E99E8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373" y="1690688"/>
            <a:ext cx="5631122" cy="3322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84C359-47F1-3838-29F5-FC1B23E2A053}"/>
              </a:ext>
            </a:extLst>
          </p:cNvPr>
          <p:cNvSpPr txBox="1"/>
          <p:nvPr/>
        </p:nvSpPr>
        <p:spPr>
          <a:xfrm>
            <a:off x="673769" y="5167312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Frequency based on Nyquist Criteria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Aliasing is Under sampling</a:t>
            </a:r>
          </a:p>
          <a:p>
            <a:r>
              <a:rPr lang="en-US" sz="2000" dirty="0"/>
              <a:t>CDs use 44.1 kHz to cover human hearing. Max human range frequency is 20kHz. Sampling theorem: Fs= 2*Max frequency. 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8672A-04ED-4555-D29C-663E4ABBE760}"/>
              </a:ext>
            </a:extLst>
          </p:cNvPr>
          <p:cNvSpPr txBox="1"/>
          <p:nvPr/>
        </p:nvSpPr>
        <p:spPr>
          <a:xfrm>
            <a:off x="6962274" y="5524725"/>
            <a:ext cx="6096000" cy="814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Resolution = number of bits </a:t>
            </a:r>
            <a:r>
              <a:rPr lang="en-IN" kern="100" dirty="0"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or 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bit depth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Cordia New" panose="020B0304020202020204" pitchFamily="34" charset="-34"/>
              </a:rPr>
              <a:t>CD resolution = 16 bits = 65536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5835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2354-3C45-3F8D-A269-2941E704C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B9D3-5B6C-3232-4081-F6C5D21F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Converters-ADC and DAC</a:t>
            </a:r>
          </a:p>
        </p:txBody>
      </p:sp>
      <p:pic>
        <p:nvPicPr>
          <p:cNvPr id="4" name="Picture 3" descr="A device with dials and knobs&#10;&#10;AI-generated content may be incorrect.">
            <a:extLst>
              <a:ext uri="{FF2B5EF4-FFF2-40B4-BE49-F238E27FC236}">
                <a16:creationId xmlns:a16="http://schemas.microsoft.com/office/drawing/2014/main" id="{06CE2493-A8DC-DD6C-1D65-F395B23C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79" y="1323340"/>
            <a:ext cx="6378976" cy="2503250"/>
          </a:xfrm>
          <a:prstGeom prst="rect">
            <a:avLst/>
          </a:prstGeom>
        </p:spPr>
      </p:pic>
      <p:pic>
        <p:nvPicPr>
          <p:cNvPr id="5" name="Picture 4" descr="A computer and a sound mixer&#10;&#10;AI-generated content may be incorrect.">
            <a:extLst>
              <a:ext uri="{FF2B5EF4-FFF2-40B4-BE49-F238E27FC236}">
                <a16:creationId xmlns:a16="http://schemas.microsoft.com/office/drawing/2014/main" id="{D6678CA1-2EEB-BA5A-6553-8E5E8164B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779" y="4133543"/>
            <a:ext cx="6378976" cy="272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0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004E-E920-EF33-BFDB-7BB07FB3E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and Frequency Domain: Fourier</a:t>
            </a:r>
          </a:p>
        </p:txBody>
      </p:sp>
      <p:pic>
        <p:nvPicPr>
          <p:cNvPr id="4" name="Content Placeholder 3" descr="A diagram of a frequency&#10;&#10;AI-generated content may be incorrect.">
            <a:extLst>
              <a:ext uri="{FF2B5EF4-FFF2-40B4-BE49-F238E27FC236}">
                <a16:creationId xmlns:a16="http://schemas.microsoft.com/office/drawing/2014/main" id="{63913A72-F05B-F86E-B1CE-3AFA34FA40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492" y="2197768"/>
            <a:ext cx="8771487" cy="374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91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0422-5764-158D-0709-D1AD388A2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2622"/>
          </a:xfrm>
        </p:spPr>
        <p:txBody>
          <a:bodyPr>
            <a:normAutofit/>
          </a:bodyPr>
          <a:lstStyle/>
          <a:p>
            <a:r>
              <a:rPr lang="en-IN" sz="3200" b="1" dirty="0"/>
              <a:t>Challenges in Audio Processing and need for enhancement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A097B-D505-423F-C7B8-4939405DA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748"/>
            <a:ext cx="10515600" cy="4700336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Unwanted sound makes extraction and analysis harder.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Aliasing &amp; Quantization Errors: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Bad sampling/poor bit depth reduces fidelity.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Information: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Compression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discard important details.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Subjectivity in Loudness/Pitch Perception: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Variability in human listeners means technical measurements don't always match perception.</a:t>
            </a:r>
          </a:p>
        </p:txBody>
      </p:sp>
    </p:spTree>
    <p:extLst>
      <p:ext uri="{BB962C8B-B14F-4D97-AF65-F5344CB8AC3E}">
        <p14:creationId xmlns:p14="http://schemas.microsoft.com/office/powerpoint/2010/main" val="4153241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089E-C99A-16FB-F95F-801E417F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Audio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ACA89-69D1-5634-4237-950BE29FB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evidence: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According to IT Act Chapter 1, sound files are included as electronic records.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Process Overview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examination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Original/Copied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Processed?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(Auditory) Listening</a:t>
            </a: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067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8B77-6F27-2E6A-7EAE-3671F3E8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A404-6DB6-226E-1059-2A46AEE3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Audio Authentication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9E2E6-4276-7618-9B76-C9E8A6DE7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21" y="1536867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Pre-Examination Assessment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request the original recording or original device.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unavailable, request details of recording device: make, model, serial number; date, time of copying; details of copying process.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telephone recordings, request Call Detail Records (CDR) for data verification like length of the recording, time, date and etc.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and check Chain Of Custody Documents (COD).</a:t>
            </a: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727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BAE0-3D76-3CBB-28EC-D06B8C4E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authentication-Laboratory Examination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C41B9-88D2-297B-64A9-93541CB96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or Telephonic Recording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following features, the direct and telephonic recordings can be identified easily:</a:t>
            </a:r>
          </a:p>
          <a:p>
            <a:pPr marL="457200" lvl="1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sampling rate: 8000 Hz for Tele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                                      23000 Hz or more for Direct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Background Noise: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 Low      Tele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 High     Direct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Metadata/HEX data properties to be verified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34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7EC6-BCAC-1F99-577B-73D13D39B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6D60B-4C2E-923F-95D5-F97FAC5A7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A screenshot of a screen&#10;&#10;AI-generated content may be incorrect.">
            <a:extLst>
              <a:ext uri="{FF2B5EF4-FFF2-40B4-BE49-F238E27FC236}">
                <a16:creationId xmlns:a16="http://schemas.microsoft.com/office/drawing/2014/main" id="{7A2911F0-3B5B-190D-6589-36F067CAC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253" y="484823"/>
            <a:ext cx="8344802" cy="613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7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76EB-56FD-E317-DC62-FFF14787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Metadata Analysis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FB0EC3-2457-75A7-E31C-DBF1BCF30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660" y="-43973"/>
            <a:ext cx="5006340" cy="3386455"/>
          </a:xfrm>
          <a:prstGeom prst="rect">
            <a:avLst/>
          </a:prstGeom>
        </p:spPr>
      </p:pic>
      <p:pic>
        <p:nvPicPr>
          <p:cNvPr id="5" name="Picture 4" descr="Screens screenshot of a computer screen&#10;&#10;AI-generated content may be incorrect.">
            <a:extLst>
              <a:ext uri="{FF2B5EF4-FFF2-40B4-BE49-F238E27FC236}">
                <a16:creationId xmlns:a16="http://schemas.microsoft.com/office/drawing/2014/main" id="{5C74A894-51E2-4769-4A52-A5407C0C2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095" y="3488340"/>
            <a:ext cx="5081905" cy="338645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14AC1F-015A-64AB-5E9C-B889114BF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71" y="1690688"/>
            <a:ext cx="5787189" cy="4351338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technical info from the audio file (e.g., filename, format, duration, bitrate, encoder, hash values).</a:t>
            </a:r>
          </a:p>
          <a:p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file properties match stated characteristics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hash values for integrity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for signs of re-encoding or editing</a:t>
            </a:r>
          </a:p>
        </p:txBody>
      </p:sp>
    </p:spTree>
    <p:extLst>
      <p:ext uri="{BB962C8B-B14F-4D97-AF65-F5344CB8AC3E}">
        <p14:creationId xmlns:p14="http://schemas.microsoft.com/office/powerpoint/2010/main" val="1207748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937F-040D-782B-BF9B-9139E5E34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4327358" cy="688258"/>
          </a:xfrm>
        </p:spPr>
        <p:txBody>
          <a:bodyPr>
            <a:normAutofit fontScale="90000"/>
          </a:bodyPr>
          <a:lstStyle/>
          <a:p>
            <a:r>
              <a:rPr lang="en-IN" dirty="0"/>
              <a:t>Hash Values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8DE88B-DDDB-F969-C92B-9049342467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9625" y="1750845"/>
            <a:ext cx="5932375" cy="47420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A317F3-07A5-4714-3A93-6CA9F13B843A}"/>
              </a:ext>
            </a:extLst>
          </p:cNvPr>
          <p:cNvSpPr txBox="1"/>
          <p:nvPr/>
        </p:nvSpPr>
        <p:spPr>
          <a:xfrm>
            <a:off x="163625" y="594163"/>
            <a:ext cx="5932375" cy="6125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for Audio Forensics: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these hash values match the hashes taken from an original device, the audio file is considered authentic, untampered, and reliable as evidence.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hashes differ, it indicates modifications, edits, or possible tampering, which must be flagged in forensic analysis and reporting.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with OSI tools,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MediaInfo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Mediatape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Hex editors, or scripts (e.g., Python).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parameters: sampling rate, codec, bit rate, device name, and editing history.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2A237-D901-255F-9F2C-7AAA3917CAA9}"/>
              </a:ext>
            </a:extLst>
          </p:cNvPr>
          <p:cNvSpPr txBox="1"/>
          <p:nvPr/>
        </p:nvSpPr>
        <p:spPr>
          <a:xfrm>
            <a:off x="6096000" y="365126"/>
            <a:ext cx="6096000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Hash calculator: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https://md5file.com/calculator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864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C1DC-8598-A8CB-944E-1651D524B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Waveform Analysis: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3FB0C-1357-4B85-FCBB-57416ABF6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comparison to spot discontinuities, sharp cuts, or faces that don’t match up.</a:t>
            </a:r>
          </a:p>
          <a:p>
            <a:pPr lvl="1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 if edits are made with technical precision (phase-aligned cutting).</a:t>
            </a:r>
          </a:p>
          <a:p>
            <a:pPr lvl="1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vs. synthesized/AI voice detection:</a:t>
            </a:r>
          </a:p>
          <a:p>
            <a:pPr lvl="2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speech naturally exhibits variation; synthesized or programmatic voice segments show near-identical waveforms repeatedly.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EA121-4762-EFF5-ECDE-3A532CCB1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80" y="4098100"/>
            <a:ext cx="4252560" cy="231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64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4FA4-54D2-FD31-9321-8AFADE6F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Waveform Analysis: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BB32D4-A319-0408-E635-94DAC3221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8013" y="1529651"/>
            <a:ext cx="6213987" cy="53283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7C0FDA-ECC0-CFC0-1C6F-A5106A852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5716"/>
            <a:ext cx="5945246" cy="426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294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27CE-C6D2-A830-E6E6-5958194A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Spectro graphical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28422B-6064-8081-5DF4-63B9C3C9C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3706" y="1810386"/>
            <a:ext cx="7058104" cy="50476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4B398-23B2-1884-1DF8-85C616BC4861}"/>
              </a:ext>
            </a:extLst>
          </p:cNvPr>
          <p:cNvSpPr txBox="1">
            <a:spLocks/>
          </p:cNvSpPr>
          <p:nvPr/>
        </p:nvSpPr>
        <p:spPr>
          <a:xfrm>
            <a:off x="457200" y="2071211"/>
            <a:ext cx="536650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Visualizes frequency content over time.</a:t>
            </a:r>
          </a:p>
          <a:p>
            <a:r>
              <a:rPr lang="en-US" dirty="0"/>
              <a:t>Look for abrupt frequency changes or repeated patterns</a:t>
            </a:r>
          </a:p>
          <a:p>
            <a:r>
              <a:rPr lang="en-US" dirty="0"/>
              <a:t>Sudden start/stop bands suggest edits or synthetic content</a:t>
            </a:r>
          </a:p>
        </p:txBody>
      </p:sp>
    </p:spTree>
    <p:extLst>
      <p:ext uri="{BB962C8B-B14F-4D97-AF65-F5344CB8AC3E}">
        <p14:creationId xmlns:p14="http://schemas.microsoft.com/office/powerpoint/2010/main" val="260445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BC02-78CA-E19D-B784-A93552E2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Spectrogram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B302C8-6E7B-7DFA-244A-B5CFEB148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440" y="1690688"/>
            <a:ext cx="9610422" cy="453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692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656D-FC37-7274-C998-A964B32C7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DC Shift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7C344-5C6B-D12E-DCD7-241EDB7B7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23" y="2925764"/>
            <a:ext cx="10820677" cy="358112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79AD8D-9B30-2C88-259B-17EA4D852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11093116" cy="1655064"/>
          </a:xfrm>
        </p:spPr>
        <p:txBody>
          <a:bodyPr/>
          <a:lstStyle/>
          <a:p>
            <a:r>
              <a:rPr dirty="0"/>
              <a:t>Measures whether the center line of the waveform is offset from zero.</a:t>
            </a:r>
          </a:p>
          <a:p>
            <a:r>
              <a:rPr dirty="0"/>
              <a:t>Large DC offset = improper recording or editing</a:t>
            </a:r>
          </a:p>
        </p:txBody>
      </p:sp>
    </p:spTree>
    <p:extLst>
      <p:ext uri="{BB962C8B-B14F-4D97-AF65-F5344CB8AC3E}">
        <p14:creationId xmlns:p14="http://schemas.microsoft.com/office/powerpoint/2010/main" val="2953531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Statistical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Skewness, Kurtosis: indicate amplitude distribution shape</a:t>
            </a:r>
          </a:p>
          <a:p>
            <a:r>
              <a:rPr dirty="0"/>
              <a:t>SNR (Signal-to-Noise Ratio): higher = clearer audio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014663" y="4359430"/>
            <a:ext cx="10515600" cy="675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Silence/Zero Discontinuity Detection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5350710"/>
            <a:ext cx="10515600" cy="1142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Checks for unnatural silences or zero blocks.</a:t>
            </a:r>
          </a:p>
          <a:p>
            <a:r>
              <a:rPr lang="en-US" dirty="0"/>
              <a:t>Natural speech pauses differ from hard cuts or inserted silences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dirty="0"/>
              <a:t>LPC (Linear Predictive Coding) Discontinuity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8844"/>
            <a:ext cx="10515600" cy="1603375"/>
          </a:xfrm>
        </p:spPr>
        <p:txBody>
          <a:bodyPr/>
          <a:lstStyle/>
          <a:p>
            <a:r>
              <a:rPr dirty="0"/>
              <a:t>Analyzes prediction changes over time.</a:t>
            </a:r>
          </a:p>
          <a:p>
            <a:r>
              <a:rPr dirty="0"/>
              <a:t>Discontinuities = possible splicing</a:t>
            </a:r>
          </a:p>
          <a:p>
            <a:r>
              <a:rPr dirty="0"/>
              <a:t>'No discontinuity found' = likely original audio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3397752"/>
            <a:ext cx="10515600" cy="902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ENF (Electric Network Frequency) Variation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4681120"/>
            <a:ext cx="10515600" cy="112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Checks continuity of 50Hz power line hum.</a:t>
            </a:r>
          </a:p>
          <a:p>
            <a:r>
              <a:rPr lang="en-US"/>
              <a:t>Absence or sudden change may suggest manipulation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Sampling Frequency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4660"/>
            <a:ext cx="10515600" cy="1062287"/>
          </a:xfrm>
        </p:spPr>
        <p:txBody>
          <a:bodyPr/>
          <a:lstStyle/>
          <a:p>
            <a:r>
              <a:rPr dirty="0"/>
              <a:t>Confirms audio sampling rate (e.g., 44.1kHz).</a:t>
            </a:r>
          </a:p>
          <a:p>
            <a:r>
              <a:rPr dirty="0"/>
              <a:t>Mismatch may indicate resampling or re-encoding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CCFEE-6A18-9008-A2F0-80D70F44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407" y="2682545"/>
            <a:ext cx="9685859" cy="38103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9BFC9-8C96-CDD0-0E55-F93DCD35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Specific Scenarios for Authentication &amp; Appropriate Techniques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D025F0-745B-D542-5E81-AE2093131B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5667653"/>
              </p:ext>
            </p:extLst>
          </p:nvPr>
        </p:nvGraphicFramePr>
        <p:xfrm>
          <a:off x="1081548" y="1652705"/>
          <a:ext cx="10272253" cy="415932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578942">
                  <a:extLst>
                    <a:ext uri="{9D8B030D-6E8A-4147-A177-3AD203B41FA5}">
                      <a16:colId xmlns:a16="http://schemas.microsoft.com/office/drawing/2014/main" val="1227532950"/>
                    </a:ext>
                  </a:extLst>
                </a:gridCol>
                <a:gridCol w="2833650">
                  <a:extLst>
                    <a:ext uri="{9D8B030D-6E8A-4147-A177-3AD203B41FA5}">
                      <a16:colId xmlns:a16="http://schemas.microsoft.com/office/drawing/2014/main" val="40622862"/>
                    </a:ext>
                  </a:extLst>
                </a:gridCol>
                <a:gridCol w="3859661">
                  <a:extLst>
                    <a:ext uri="{9D8B030D-6E8A-4147-A177-3AD203B41FA5}">
                      <a16:colId xmlns:a16="http://schemas.microsoft.com/office/drawing/2014/main" val="934328810"/>
                    </a:ext>
                  </a:extLst>
                </a:gridCol>
              </a:tblGrid>
              <a:tr h="3372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 File Scenario</a:t>
                      </a:r>
                      <a:endParaRPr lang="en-IN" sz="1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73253" marB="7325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  <a:endParaRPr lang="en-IN" sz="1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73253" marB="7325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Outcome/Opinion</a:t>
                      </a:r>
                      <a:endParaRPr lang="en-IN" sz="18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73253" marB="73253"/>
                </a:tc>
                <a:extLst>
                  <a:ext uri="{0D108BD9-81ED-4DB2-BD59-A6C34878D82A}">
                    <a16:rowId xmlns:a16="http://schemas.microsoft.com/office/drawing/2014/main" val="3114545370"/>
                  </a:ext>
                </a:extLst>
              </a:tr>
              <a:tr h="7623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file on original device like mobile phone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Metadata, Hash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Conclusive authentication possible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extLst>
                  <a:ext uri="{0D108BD9-81ED-4DB2-BD59-A6C34878D82A}">
                    <a16:rowId xmlns:a16="http://schemas.microsoft.com/office/drawing/2014/main" val="2157057512"/>
                  </a:ext>
                </a:extLst>
              </a:tr>
              <a:tr h="9645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copied to another device, but original available like cd or </a:t>
                      </a:r>
                      <a:r>
                        <a:rPr lang="en-IN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pendrive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 </a:t>
                      </a:r>
                      <a:r>
                        <a:rPr lang="en-IN" sz="18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souce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Metadata, Hash, Auditory, waveform form, Spectrograph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opinion possible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extLst>
                  <a:ext uri="{0D108BD9-81ED-4DB2-BD59-A6C34878D82A}">
                    <a16:rowId xmlns:a16="http://schemas.microsoft.com/office/drawing/2014/main" val="2664780286"/>
                  </a:ext>
                </a:extLst>
              </a:tr>
              <a:tr h="7623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only on CD/drive, not social media processed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Metadata, Auditory, waveform-form, Spectrograph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Concrete or continuity-only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extLst>
                  <a:ext uri="{0D108BD9-81ED-4DB2-BD59-A6C34878D82A}">
                    <a16:rowId xmlns:a16="http://schemas.microsoft.com/office/drawing/2014/main" val="1763603090"/>
                  </a:ext>
                </a:extLst>
              </a:tr>
              <a:tr h="7623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from social media but present in device</a:t>
                      </a:r>
                      <a:endParaRPr lang="en-IN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Auditory, waveform form, Spectrograph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continuity possible</a:t>
                      </a:r>
                      <a:endParaRPr lang="en-IN" sz="18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53" marR="73253" marT="83630" marB="83630" anchor="b"/>
                </a:tc>
                <a:extLst>
                  <a:ext uri="{0D108BD9-81ED-4DB2-BD59-A6C34878D82A}">
                    <a16:rowId xmlns:a16="http://schemas.microsoft.com/office/drawing/2014/main" val="482198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012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0419-A699-305A-05A9-A6AEB1F1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OSI tools for Audio Signal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8250-7739-6AE4-5A74-753DB93F2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Audacity</a:t>
            </a:r>
          </a:p>
          <a:p>
            <a:r>
              <a:rPr lang="en-IN" dirty="0" err="1"/>
              <a:t>Praat</a:t>
            </a:r>
            <a:endParaRPr lang="en-IN" dirty="0"/>
          </a:p>
          <a:p>
            <a:r>
              <a:rPr lang="en-IN" dirty="0"/>
              <a:t>Hash Calc</a:t>
            </a:r>
          </a:p>
          <a:p>
            <a:r>
              <a:rPr lang="en-IN" dirty="0"/>
              <a:t>Sonic Visualizer</a:t>
            </a:r>
          </a:p>
        </p:txBody>
      </p:sp>
    </p:spTree>
    <p:extLst>
      <p:ext uri="{BB962C8B-B14F-4D97-AF65-F5344CB8AC3E}">
        <p14:creationId xmlns:p14="http://schemas.microsoft.com/office/powerpoint/2010/main" val="448439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33A8-C948-66F8-EFE5-D9C846C87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632" y="2233253"/>
            <a:ext cx="3379839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9713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1194</Words>
  <Application>Microsoft Office PowerPoint</Application>
  <PresentationFormat>Widescreen</PresentationFormat>
  <Paragraphs>125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Symbol</vt:lpstr>
      <vt:lpstr>Times New Roman</vt:lpstr>
      <vt:lpstr>Office Theme</vt:lpstr>
      <vt:lpstr>Audio Forensics Analysis</vt:lpstr>
      <vt:lpstr>Sound Production and Wave representation</vt:lpstr>
      <vt:lpstr>PowerPoint Presentation</vt:lpstr>
      <vt:lpstr>PowerPoint Presentation</vt:lpstr>
      <vt:lpstr>Key Parameters of Audio Signals</vt:lpstr>
      <vt:lpstr>Key Parameters of Audio Signals</vt:lpstr>
      <vt:lpstr>Key Parameters of Audio Signals</vt:lpstr>
      <vt:lpstr>PowerPoint Presentation</vt:lpstr>
      <vt:lpstr>Frequency vs pitch: </vt:lpstr>
      <vt:lpstr>Analog and Digital Signals; Sampling and Quantization</vt:lpstr>
      <vt:lpstr>Data Converters-ADC and DAC</vt:lpstr>
      <vt:lpstr>Time and Frequency Domain: Fourier</vt:lpstr>
      <vt:lpstr>Challenges in Audio Processing and need for enhancement</vt:lpstr>
      <vt:lpstr>Audio Authentication</vt:lpstr>
      <vt:lpstr>Audio Authentication</vt:lpstr>
      <vt:lpstr>Audio authentication-Laboratory Examination</vt:lpstr>
      <vt:lpstr>PowerPoint Presentation</vt:lpstr>
      <vt:lpstr>Metadata Analysis</vt:lpstr>
      <vt:lpstr>Hash Values</vt:lpstr>
      <vt:lpstr>Waveform Analysis: </vt:lpstr>
      <vt:lpstr>Waveform Analysis: </vt:lpstr>
      <vt:lpstr>Spectro graphical analysis</vt:lpstr>
      <vt:lpstr>Spectrogram Analysis</vt:lpstr>
      <vt:lpstr>DC Shift Analysis</vt:lpstr>
      <vt:lpstr>Statistical Parameters</vt:lpstr>
      <vt:lpstr>LPC (Linear Predictive Coding) Discontinuity</vt:lpstr>
      <vt:lpstr>Sampling Frequency Detection</vt:lpstr>
      <vt:lpstr>Specific Scenarios for Authentication &amp; Appropriate Techniques</vt:lpstr>
      <vt:lpstr>Some OSI tools for Audio Signal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Shrikanth Shirakol</dc:creator>
  <cp:lastModifiedBy>Shrikanth Shirakol</cp:lastModifiedBy>
  <cp:revision>20</cp:revision>
  <dcterms:created xsi:type="dcterms:W3CDTF">2025-11-07T08:50:08Z</dcterms:created>
  <dcterms:modified xsi:type="dcterms:W3CDTF">2025-11-08T02:09:47Z</dcterms:modified>
</cp:coreProperties>
</file>